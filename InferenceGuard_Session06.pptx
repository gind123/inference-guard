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y="5143500" cx="9144000"/>
  <p:notesSz cx="6858000" cy="9144000"/>
  <p:embeddedFontLst>
    <p:embeddedFont>
      <p:font typeface="Lato"/>
      <p:regular r:id="rId26"/>
      <p:bold r:id="rId27"/>
      <p:italic r:id="rId28"/>
      <p:boldItalic r:id="rId29"/>
    </p:embeddedFont>
    <p:embeddedFont>
      <p:font typeface="Red Hat Display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0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402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6" Type="http://schemas.openxmlformats.org/officeDocument/2006/relationships/font" Target="fonts/Lato-regular.fntdata"/><Relationship Id="rId27" Type="http://schemas.openxmlformats.org/officeDocument/2006/relationships/font" Target="fonts/Lato-bold.fntdata"/><Relationship Id="rId28" Type="http://schemas.openxmlformats.org/officeDocument/2006/relationships/font" Target="fonts/Lato-italic.fntdata"/><Relationship Id="rId29" Type="http://schemas.openxmlformats.org/officeDocument/2006/relationships/font" Target="fonts/Lato-boldItalic.fntdata"/><Relationship Id="rId30" Type="http://schemas.openxmlformats.org/officeDocument/2006/relationships/font" Target="fonts/RedHatDisplay-regular.fntdata"/><Relationship Id="rId31" Type="http://schemas.openxmlformats.org/officeDocument/2006/relationships/font" Target="fonts/RedHatDisplay-bold.fntdata"/><Relationship Id="rId32" Type="http://schemas.openxmlformats.org/officeDocument/2006/relationships/font" Target="fonts/RedHatDisplay-italic.fntdata"/><Relationship Id="rId33" Type="http://schemas.openxmlformats.org/officeDocument/2006/relationships/font" Target="fonts/RedHatDisplay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of us, five hats. Keep this to 20 seconds.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sentence. Ask them to spot what identifies the person - nothing does, and that is the point. The 90.5% is from the SynthPAI human annotations, not our own.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pass through the pipeline. Say clearly which two parts we trained: ModernBERT and the Qwen adapter. Presidio is the baseline, not our work.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macro number, then immediately the caveat. If asked why age is bad: 83 positives and the weakest cue signal of the four.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slide that earns marks. Four of five rejected it. Do not soften P05 - the fallback returned the original text and the UI still presented it as protected.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plainly: the risk model works, the rewriter does not yet. Two of these we caught by reviewing our own PRs rather than from outside.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reorder: held-out adversary moves from Session 09 to Session 07.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Pivot or persevere: persevere, with the order changed. Be ready for 'why should we believe your numbers' - the honest answer is that until Session 07 you should not.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Stop talking. Let them ask.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3075" y="992400"/>
            <a:ext cx="5682900" cy="21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5200">
                <a:solidFill>
                  <a:srgbClr val="E42524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47725" y="2868275"/>
            <a:ext cx="7233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95600" y="152400"/>
            <a:ext cx="2715887" cy="2715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2200" y="866400"/>
            <a:ext cx="51435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0625" y="3678151"/>
            <a:ext cx="2130598" cy="213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724" y="4556824"/>
            <a:ext cx="2512000" cy="2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>
  <p:cSld name="CUSTOM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53725" y="-15775"/>
            <a:ext cx="5143501" cy="517505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type="ctrTitle"/>
          </p:nvPr>
        </p:nvSpPr>
        <p:spPr>
          <a:xfrm>
            <a:off x="3657600" y="630000"/>
            <a:ext cx="4994700" cy="19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5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3657600" y="2669950"/>
            <a:ext cx="49947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">
  <p:cSld name="CUSTOM_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308" r="298" t="0"/>
          <a:stretch/>
        </p:blipFill>
        <p:spPr>
          <a:xfrm>
            <a:off x="-1962175" y="-15775"/>
            <a:ext cx="5143501" cy="517505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ctrTitle"/>
          </p:nvPr>
        </p:nvSpPr>
        <p:spPr>
          <a:xfrm>
            <a:off x="3657600" y="630000"/>
            <a:ext cx="4994700" cy="19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5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3657600" y="2669950"/>
            <a:ext cx="49947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61000" y="-15775"/>
            <a:ext cx="5175052" cy="517505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type="ctrTitle"/>
          </p:nvPr>
        </p:nvSpPr>
        <p:spPr>
          <a:xfrm>
            <a:off x="3657600" y="630000"/>
            <a:ext cx="4994700" cy="19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55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57600" y="2669950"/>
            <a:ext cx="49947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4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38675" y="1089250"/>
            <a:ext cx="57909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111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794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/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Google Shape;37;p6"/>
          <p:cNvSpPr txBox="1"/>
          <p:nvPr>
            <p:ph idx="2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58">
          <p15:clr>
            <a:srgbClr val="FA7B17"/>
          </p15:clr>
        </p15:guide>
        <p15:guide id="2" pos="40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Photo">
  <p:cSld name="TITLE_4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>
            <p:ph idx="2" type="pic"/>
          </p:nvPr>
        </p:nvSpPr>
        <p:spPr>
          <a:xfrm>
            <a:off x="3436275" y="-101925"/>
            <a:ext cx="5839800" cy="5470500"/>
          </a:xfrm>
          <a:prstGeom prst="rect">
            <a:avLst/>
          </a:prstGeom>
          <a:noFill/>
          <a:ln>
            <a:noFill/>
          </a:ln>
        </p:spPr>
      </p:sp>
      <p:pic>
        <p:nvPicPr>
          <p:cNvPr id="40" name="Google Shape;4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/>
          <p:nvPr>
            <p:ph type="title"/>
          </p:nvPr>
        </p:nvSpPr>
        <p:spPr>
          <a:xfrm>
            <a:off x="633375" y="662500"/>
            <a:ext cx="24147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3" type="title"/>
          </p:nvPr>
        </p:nvSpPr>
        <p:spPr>
          <a:xfrm>
            <a:off x="633375" y="1897100"/>
            <a:ext cx="2414700" cy="22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9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Photos">
  <p:cSld name="TITLE_4_1_1_1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8"/>
          <p:cNvSpPr/>
          <p:nvPr>
            <p:ph idx="2" type="pic"/>
          </p:nvPr>
        </p:nvSpPr>
        <p:spPr>
          <a:xfrm>
            <a:off x="3415100" y="2578600"/>
            <a:ext cx="5808900" cy="2730000"/>
          </a:xfrm>
          <a:prstGeom prst="rect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8"/>
          <p:cNvSpPr/>
          <p:nvPr>
            <p:ph idx="3" type="pic"/>
          </p:nvPr>
        </p:nvSpPr>
        <p:spPr>
          <a:xfrm>
            <a:off x="3415113" y="-123775"/>
            <a:ext cx="3399300" cy="2637000"/>
          </a:xfrm>
          <a:prstGeom prst="rect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8"/>
          <p:cNvSpPr/>
          <p:nvPr>
            <p:ph idx="4" type="pic"/>
          </p:nvPr>
        </p:nvSpPr>
        <p:spPr>
          <a:xfrm>
            <a:off x="6901688" y="-123775"/>
            <a:ext cx="2322300" cy="2637000"/>
          </a:xfrm>
          <a:prstGeom prst="rect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/>
          <p:nvPr>
            <p:ph type="title"/>
          </p:nvPr>
        </p:nvSpPr>
        <p:spPr>
          <a:xfrm>
            <a:off x="633375" y="662500"/>
            <a:ext cx="24147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5" type="title"/>
          </p:nvPr>
        </p:nvSpPr>
        <p:spPr>
          <a:xfrm>
            <a:off x="633375" y="1897100"/>
            <a:ext cx="2414700" cy="22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TITLE_4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638675" y="1089250"/>
            <a:ext cx="31836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111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794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4436400" y="1089250"/>
            <a:ext cx="31836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111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794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idx="3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elements">
  <p:cSld name="TITLE_4_1_1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 txBox="1"/>
          <p:nvPr>
            <p:ph idx="1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pic>
        <p:nvPicPr>
          <p:cNvPr id="65" name="Google Shape;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/>
          <p:nvPr/>
        </p:nvSpPr>
        <p:spPr>
          <a:xfrm>
            <a:off x="380998" y="1079775"/>
            <a:ext cx="1702407" cy="1809639"/>
          </a:xfrm>
          <a:custGeom>
            <a:rect b="b" l="l" r="r" t="t"/>
            <a:pathLst>
              <a:path extrusionOk="0" h="310801" w="310942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69" name="Google Shape;69;p10"/>
          <p:cNvSpPr/>
          <p:nvPr/>
        </p:nvSpPr>
        <p:spPr>
          <a:xfrm>
            <a:off x="267950" y="3262351"/>
            <a:ext cx="822442" cy="874128"/>
          </a:xfrm>
          <a:custGeom>
            <a:rect b="b" l="l" r="r" t="t"/>
            <a:pathLst>
              <a:path extrusionOk="0" h="310801" w="310942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rgbClr val="E31933"/>
          </a:solidFill>
          <a:ln>
            <a:noFill/>
          </a:ln>
        </p:spPr>
      </p:sp>
      <p:sp>
        <p:nvSpPr>
          <p:cNvPr id="70" name="Google Shape;70;p10"/>
          <p:cNvSpPr/>
          <p:nvPr/>
        </p:nvSpPr>
        <p:spPr>
          <a:xfrm>
            <a:off x="4367573" y="1079775"/>
            <a:ext cx="1702407" cy="1809639"/>
          </a:xfrm>
          <a:custGeom>
            <a:rect b="b" l="l" r="r" t="t"/>
            <a:pathLst>
              <a:path extrusionOk="0" h="310801" w="310942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2" type="subTitle"/>
          </p:nvPr>
        </p:nvSpPr>
        <p:spPr>
          <a:xfrm>
            <a:off x="1746200" y="2630350"/>
            <a:ext cx="25713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/>
        </p:nvSpPr>
        <p:spPr>
          <a:xfrm>
            <a:off x="3164125" y="3262351"/>
            <a:ext cx="822442" cy="874128"/>
          </a:xfrm>
          <a:custGeom>
            <a:rect b="b" l="l" r="r" t="t"/>
            <a:pathLst>
              <a:path extrusionOk="0" h="310801" w="310942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</p:sp>
      <p:sp>
        <p:nvSpPr>
          <p:cNvPr id="74" name="Google Shape;74;p10"/>
          <p:cNvSpPr/>
          <p:nvPr/>
        </p:nvSpPr>
        <p:spPr>
          <a:xfrm>
            <a:off x="6019800" y="3262351"/>
            <a:ext cx="822442" cy="874128"/>
          </a:xfrm>
          <a:custGeom>
            <a:rect b="b" l="l" r="r" t="t"/>
            <a:pathLst>
              <a:path extrusionOk="0" h="310801" w="310942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75" name="Google Shape;75;p10"/>
          <p:cNvSpPr txBox="1"/>
          <p:nvPr>
            <p:ph hasCustomPrompt="1" idx="3" type="title"/>
          </p:nvPr>
        </p:nvSpPr>
        <p:spPr>
          <a:xfrm>
            <a:off x="1746201" y="1121300"/>
            <a:ext cx="3254400" cy="153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0"/>
              <a:buFont typeface="Source Sans Pro"/>
              <a:buNone/>
              <a:defRPr b="0" sz="13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0"/>
          <p:cNvSpPr txBox="1"/>
          <p:nvPr>
            <p:ph idx="4" type="subTitle"/>
          </p:nvPr>
        </p:nvSpPr>
        <p:spPr>
          <a:xfrm>
            <a:off x="5732775" y="2630350"/>
            <a:ext cx="25713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hasCustomPrompt="1" idx="5" type="title"/>
          </p:nvPr>
        </p:nvSpPr>
        <p:spPr>
          <a:xfrm>
            <a:off x="5732776" y="1121300"/>
            <a:ext cx="3254400" cy="153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0"/>
              <a:buFont typeface="Source Sans Pro"/>
              <a:buNone/>
              <a:defRPr b="0" sz="13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0"/>
          <p:cNvSpPr txBox="1"/>
          <p:nvPr>
            <p:ph idx="6" type="subTitle"/>
          </p:nvPr>
        </p:nvSpPr>
        <p:spPr>
          <a:xfrm>
            <a:off x="1173561" y="3971981"/>
            <a:ext cx="25713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hasCustomPrompt="1" idx="7" type="title"/>
          </p:nvPr>
        </p:nvSpPr>
        <p:spPr>
          <a:xfrm>
            <a:off x="1165869" y="3134019"/>
            <a:ext cx="1810500" cy="82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Source Sans Pro"/>
              <a:buNone/>
              <a:defRPr b="0" sz="7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0"/>
          <p:cNvSpPr txBox="1"/>
          <p:nvPr>
            <p:ph idx="8" type="subTitle"/>
          </p:nvPr>
        </p:nvSpPr>
        <p:spPr>
          <a:xfrm>
            <a:off x="4069736" y="3971981"/>
            <a:ext cx="25713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hasCustomPrompt="1" idx="9" type="title"/>
          </p:nvPr>
        </p:nvSpPr>
        <p:spPr>
          <a:xfrm>
            <a:off x="4062044" y="3134019"/>
            <a:ext cx="1810500" cy="82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Source Sans Pro"/>
              <a:buNone/>
              <a:defRPr b="0" sz="7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0"/>
          <p:cNvSpPr txBox="1"/>
          <p:nvPr>
            <p:ph idx="13" type="subTitle"/>
          </p:nvPr>
        </p:nvSpPr>
        <p:spPr>
          <a:xfrm>
            <a:off x="6925411" y="3971981"/>
            <a:ext cx="2571300" cy="2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None/>
              <a:defRPr sz="14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hasCustomPrompt="1" idx="14" type="title"/>
          </p:nvPr>
        </p:nvSpPr>
        <p:spPr>
          <a:xfrm>
            <a:off x="6917719" y="3134019"/>
            <a:ext cx="1810500" cy="82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Source Sans Pro"/>
              <a:buNone/>
              <a:defRPr b="0" sz="7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TITLE_4_1_1_2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pic>
        <p:nvPicPr>
          <p:cNvPr id="86" name="Google Shape;8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/>
          <p:nvPr>
            <p:ph idx="1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pic>
        <p:nvPicPr>
          <p:cNvPr id="88" name="Google Shape;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/>
          <p:nvPr/>
        </p:nvSpPr>
        <p:spPr>
          <a:xfrm>
            <a:off x="-1796500" y="-1035426"/>
            <a:ext cx="3940412" cy="4188043"/>
          </a:xfrm>
          <a:custGeom>
            <a:rect b="b" l="l" r="r" t="t"/>
            <a:pathLst>
              <a:path extrusionOk="0" h="310801" w="310942">
                <a:moveTo>
                  <a:pt x="48578" y="0"/>
                </a:moveTo>
                <a:lnTo>
                  <a:pt x="204216" y="0"/>
                </a:lnTo>
                <a:lnTo>
                  <a:pt x="310942" y="145691"/>
                </a:lnTo>
                <a:lnTo>
                  <a:pt x="155448" y="310801"/>
                </a:lnTo>
                <a:lnTo>
                  <a:pt x="0" y="310801"/>
                </a:lnTo>
                <a:lnTo>
                  <a:pt x="155448" y="1456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92" name="Google Shape;92;p11"/>
          <p:cNvCxnSpPr/>
          <p:nvPr/>
        </p:nvCxnSpPr>
        <p:spPr>
          <a:xfrm>
            <a:off x="842707" y="2786250"/>
            <a:ext cx="0" cy="236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3" name="Google Shape;93;p11"/>
          <p:cNvCxnSpPr/>
          <p:nvPr/>
        </p:nvCxnSpPr>
        <p:spPr>
          <a:xfrm>
            <a:off x="3480607" y="2786250"/>
            <a:ext cx="0" cy="236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4" name="Google Shape;94;p11"/>
          <p:cNvCxnSpPr/>
          <p:nvPr/>
        </p:nvCxnSpPr>
        <p:spPr>
          <a:xfrm>
            <a:off x="6096007" y="2786250"/>
            <a:ext cx="0" cy="2367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5" name="Google Shape;95;p11"/>
          <p:cNvCxnSpPr/>
          <p:nvPr/>
        </p:nvCxnSpPr>
        <p:spPr>
          <a:xfrm rot="10800000">
            <a:off x="2138100" y="2297251"/>
            <a:ext cx="0" cy="255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6" name="Google Shape;96;p11"/>
          <p:cNvCxnSpPr/>
          <p:nvPr/>
        </p:nvCxnSpPr>
        <p:spPr>
          <a:xfrm rot="10800000">
            <a:off x="4776000" y="2297251"/>
            <a:ext cx="0" cy="255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7" name="Google Shape;97;p11"/>
          <p:cNvCxnSpPr/>
          <p:nvPr/>
        </p:nvCxnSpPr>
        <p:spPr>
          <a:xfrm rot="10800000">
            <a:off x="7391400" y="2297251"/>
            <a:ext cx="0" cy="255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8" name="Google Shape;98;p11"/>
          <p:cNvSpPr/>
          <p:nvPr/>
        </p:nvSpPr>
        <p:spPr>
          <a:xfrm>
            <a:off x="633375" y="2467925"/>
            <a:ext cx="1349100" cy="384900"/>
          </a:xfrm>
          <a:prstGeom prst="rect">
            <a:avLst/>
          </a:prstGeom>
          <a:solidFill>
            <a:srgbClr val="6363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1951889" y="2467925"/>
            <a:ext cx="1349100" cy="384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3270403" y="2467925"/>
            <a:ext cx="1349100" cy="3849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4588917" y="2467925"/>
            <a:ext cx="1349100" cy="3849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5907431" y="2467925"/>
            <a:ext cx="1349100" cy="384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7225945" y="2467925"/>
            <a:ext cx="1349100" cy="384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" name="Google Shape;104;p11"/>
          <p:cNvSpPr txBox="1"/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1"/>
          <p:cNvSpPr txBox="1"/>
          <p:nvPr>
            <p:ph idx="2" type="subTitle"/>
          </p:nvPr>
        </p:nvSpPr>
        <p:spPr>
          <a:xfrm>
            <a:off x="2097879" y="1105425"/>
            <a:ext cx="1087800" cy="105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106" name="Google Shape;106;p11"/>
          <p:cNvSpPr txBox="1"/>
          <p:nvPr>
            <p:ph idx="3" type="subTitle"/>
          </p:nvPr>
        </p:nvSpPr>
        <p:spPr>
          <a:xfrm>
            <a:off x="4724701" y="1105425"/>
            <a:ext cx="1087800" cy="105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7351526" y="1105425"/>
            <a:ext cx="1087800" cy="105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805717" y="3117122"/>
            <a:ext cx="1087800" cy="105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3432539" y="3117122"/>
            <a:ext cx="1087800" cy="105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>
            <p:ph idx="7" type="subTitle"/>
          </p:nvPr>
        </p:nvSpPr>
        <p:spPr>
          <a:xfrm>
            <a:off x="6059364" y="3117122"/>
            <a:ext cx="1087800" cy="105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+ photo">
  <p:cSld name="MAIN_POINT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089400" y="1013175"/>
            <a:ext cx="46485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/>
        </p:txBody>
      </p:sp>
      <p:sp>
        <p:nvSpPr>
          <p:cNvPr id="113" name="Google Shape;113;p12"/>
          <p:cNvSpPr/>
          <p:nvPr>
            <p:ph idx="2" type="pic"/>
          </p:nvPr>
        </p:nvSpPr>
        <p:spPr>
          <a:xfrm>
            <a:off x="-1200325" y="0"/>
            <a:ext cx="4248300" cy="51435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19050">
              <a:srgbClr val="000000">
                <a:alpha val="12941"/>
              </a:srgbClr>
            </a:outerShdw>
          </a:effectLst>
        </p:spPr>
      </p:sp>
      <p:pic>
        <p:nvPicPr>
          <p:cNvPr id="114" name="Google Shape;11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65100" y="1118150"/>
            <a:ext cx="357101" cy="357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sp>
        <p:nvSpPr>
          <p:cNvPr id="116" name="Google Shape;116;p12"/>
          <p:cNvSpPr txBox="1"/>
          <p:nvPr>
            <p:ph idx="1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pic>
        <p:nvPicPr>
          <p:cNvPr id="117" name="Google Shape;1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ramatic Text and Photo 3 1">
  <p:cSld name="MAIN_POINT_2_2_1_1_1"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/>
          <p:nvPr>
            <p:ph idx="2" type="pic"/>
          </p:nvPr>
        </p:nvSpPr>
        <p:spPr>
          <a:xfrm>
            <a:off x="-95250" y="-155150"/>
            <a:ext cx="9334500" cy="5467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2" name="Google Shape;12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3975" y="1296782"/>
            <a:ext cx="6096025" cy="2549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Blank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sp>
        <p:nvSpPr>
          <p:cNvPr id="125" name="Google Shape;125;p14"/>
          <p:cNvSpPr txBox="1"/>
          <p:nvPr>
            <p:ph idx="1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pic>
        <p:nvPicPr>
          <p:cNvPr id="126" name="Google Shape;12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ramatic Text and Photo 2">
  <p:cSld name="MAIN_POINT_2_2_1">
    <p:bg>
      <p:bgPr>
        <a:solidFill>
          <a:schemeClr val="accen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/>
        </p:txBody>
      </p:sp>
      <p:sp>
        <p:nvSpPr>
          <p:cNvPr id="131" name="Google Shape;131;p15"/>
          <p:cNvSpPr/>
          <p:nvPr>
            <p:ph idx="2" type="pic"/>
          </p:nvPr>
        </p:nvSpPr>
        <p:spPr>
          <a:xfrm>
            <a:off x="2582350" y="-118525"/>
            <a:ext cx="7450800" cy="5380500"/>
          </a:xfrm>
          <a:prstGeom prst="chevron">
            <a:avLst>
              <a:gd fmla="val 50000" name="adj"/>
            </a:avLst>
          </a:prstGeom>
          <a:noFill/>
          <a:ln>
            <a:noFill/>
          </a:ln>
          <a:effectLst>
            <a:outerShdw blurRad="200025" rotWithShape="0" algn="bl" dir="5400000" dist="19050">
              <a:srgbClr val="000000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">
  <p:cSld name="MAIN_POINT_2_2_2"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>
            <p:ph idx="2" type="pic"/>
          </p:nvPr>
        </p:nvSpPr>
        <p:spPr>
          <a:xfrm>
            <a:off x="2072600" y="-1085850"/>
            <a:ext cx="10098000" cy="7315200"/>
          </a:xfrm>
          <a:prstGeom prst="chevron">
            <a:avLst>
              <a:gd fmla="val 50000" name="adj"/>
            </a:avLst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7843"/>
              </a:srgbClr>
            </a:outerShdw>
          </a:effectLst>
        </p:spPr>
      </p:sp>
      <p:sp>
        <p:nvSpPr>
          <p:cNvPr id="134" name="Google Shape;134;p16"/>
          <p:cNvSpPr/>
          <p:nvPr>
            <p:ph idx="3" type="pic"/>
          </p:nvPr>
        </p:nvSpPr>
        <p:spPr>
          <a:xfrm>
            <a:off x="-3748850" y="-1085850"/>
            <a:ext cx="10098000" cy="7315200"/>
          </a:xfrm>
          <a:prstGeom prst="chevron">
            <a:avLst>
              <a:gd fmla="val 50000" name="adj"/>
            </a:avLst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7843"/>
              </a:srgbClr>
            </a:outerShdw>
          </a:effectLst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-86275" y="3251075"/>
            <a:ext cx="9321900" cy="68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/>
          <p:nvPr>
            <p:ph type="ctrTitle"/>
          </p:nvPr>
        </p:nvSpPr>
        <p:spPr>
          <a:xfrm>
            <a:off x="2093850" y="859575"/>
            <a:ext cx="49563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8" name="Google Shape;138;p17"/>
          <p:cNvSpPr txBox="1"/>
          <p:nvPr/>
        </p:nvSpPr>
        <p:spPr>
          <a:xfrm>
            <a:off x="761975" y="3423775"/>
            <a:ext cx="3807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57188" y="4400095"/>
            <a:ext cx="2829624" cy="33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19112"/>
          <a:stretch/>
        </p:blipFill>
        <p:spPr>
          <a:xfrm>
            <a:off x="-1530325" y="3251200"/>
            <a:ext cx="12103050" cy="68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SECTION_HEADER_1_1_1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165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761975" y="0"/>
            <a:ext cx="7623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None/>
              <a:defRPr sz="68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165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/>
          <p:nvPr>
            <p:ph type="title"/>
          </p:nvPr>
        </p:nvSpPr>
        <p:spPr>
          <a:xfrm>
            <a:off x="761975" y="0"/>
            <a:ext cx="7623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None/>
              <a:defRPr sz="6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Boxes">
  <p:cSld name="TITLE_ONLY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/>
          <p:nvPr/>
        </p:nvSpPr>
        <p:spPr>
          <a:xfrm>
            <a:off x="654225" y="1297000"/>
            <a:ext cx="2418300" cy="239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3362892" y="1297000"/>
            <a:ext cx="2418300" cy="239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071559" y="1297000"/>
            <a:ext cx="2418300" cy="239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>
            <p:ph idx="1" type="subTitle"/>
          </p:nvPr>
        </p:nvSpPr>
        <p:spPr>
          <a:xfrm>
            <a:off x="654250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4" name="Google Shape;154;p20"/>
          <p:cNvSpPr txBox="1"/>
          <p:nvPr>
            <p:ph idx="2" type="subTitle"/>
          </p:nvPr>
        </p:nvSpPr>
        <p:spPr>
          <a:xfrm>
            <a:off x="3362900" y="1297000"/>
            <a:ext cx="2418300" cy="23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5" name="Google Shape;155;p20"/>
          <p:cNvSpPr txBox="1"/>
          <p:nvPr>
            <p:ph idx="3" type="subTitle"/>
          </p:nvPr>
        </p:nvSpPr>
        <p:spPr>
          <a:xfrm>
            <a:off x="6071575" y="1297000"/>
            <a:ext cx="2418300" cy="23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>
            <p:ph idx="4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12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 with left rule">
  <p:cSld name="TITLE_ONLY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pic>
        <p:nvPicPr>
          <p:cNvPr id="165" name="Google Shape;16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>
            <p:ph idx="1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pic>
        <p:nvPicPr>
          <p:cNvPr id="167" name="Google Shape;1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1"/>
          <p:cNvCxnSpPr/>
          <p:nvPr/>
        </p:nvCxnSpPr>
        <p:spPr>
          <a:xfrm>
            <a:off x="529825" y="1206450"/>
            <a:ext cx="0" cy="2722200"/>
          </a:xfrm>
          <a:prstGeom prst="straightConnector1">
            <a:avLst/>
          </a:prstGeom>
          <a:noFill/>
          <a:ln cap="flat" cmpd="sng" w="9525">
            <a:solidFill>
              <a:srgbClr val="6363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1"/>
          <p:cNvCxnSpPr/>
          <p:nvPr/>
        </p:nvCxnSpPr>
        <p:spPr>
          <a:xfrm>
            <a:off x="3362650" y="1206450"/>
            <a:ext cx="0" cy="2722200"/>
          </a:xfrm>
          <a:prstGeom prst="straightConnector1">
            <a:avLst/>
          </a:prstGeom>
          <a:noFill/>
          <a:ln cap="flat" cmpd="sng" w="9525">
            <a:solidFill>
              <a:srgbClr val="6363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1"/>
          <p:cNvCxnSpPr/>
          <p:nvPr/>
        </p:nvCxnSpPr>
        <p:spPr>
          <a:xfrm>
            <a:off x="6195475" y="1206450"/>
            <a:ext cx="0" cy="2722200"/>
          </a:xfrm>
          <a:prstGeom prst="straightConnector1">
            <a:avLst/>
          </a:prstGeom>
          <a:noFill/>
          <a:ln cap="flat" cmpd="sng" w="9525">
            <a:solidFill>
              <a:srgbClr val="63636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1"/>
          <p:cNvSpPr txBox="1"/>
          <p:nvPr/>
        </p:nvSpPr>
        <p:spPr>
          <a:xfrm>
            <a:off x="714875" y="1663450"/>
            <a:ext cx="2424300" cy="22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2" type="subTitle"/>
          </p:nvPr>
        </p:nvSpPr>
        <p:spPr>
          <a:xfrm>
            <a:off x="688825" y="1134050"/>
            <a:ext cx="25119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3" type="body"/>
          </p:nvPr>
        </p:nvSpPr>
        <p:spPr>
          <a:xfrm>
            <a:off x="688825" y="1671075"/>
            <a:ext cx="2511900" cy="22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7" name="Google Shape;177;p21"/>
          <p:cNvSpPr txBox="1"/>
          <p:nvPr/>
        </p:nvSpPr>
        <p:spPr>
          <a:xfrm>
            <a:off x="3545167" y="1663450"/>
            <a:ext cx="2424300" cy="22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8" name="Google Shape;178;p21"/>
          <p:cNvSpPr txBox="1"/>
          <p:nvPr>
            <p:ph idx="4" type="subTitle"/>
          </p:nvPr>
        </p:nvSpPr>
        <p:spPr>
          <a:xfrm>
            <a:off x="3526311" y="1134050"/>
            <a:ext cx="25119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179" name="Google Shape;179;p21"/>
          <p:cNvSpPr txBox="1"/>
          <p:nvPr>
            <p:ph idx="5" type="body"/>
          </p:nvPr>
        </p:nvSpPr>
        <p:spPr>
          <a:xfrm>
            <a:off x="3526311" y="1671075"/>
            <a:ext cx="2511900" cy="22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0" name="Google Shape;180;p21"/>
          <p:cNvSpPr txBox="1"/>
          <p:nvPr>
            <p:ph idx="6" type="subTitle"/>
          </p:nvPr>
        </p:nvSpPr>
        <p:spPr>
          <a:xfrm>
            <a:off x="6363786" y="1134050"/>
            <a:ext cx="25119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ource Sans Pro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7" type="body"/>
          </p:nvPr>
        </p:nvSpPr>
        <p:spPr>
          <a:xfrm>
            <a:off x="6363786" y="1671075"/>
            <a:ext cx="2511900" cy="226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12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ramatic Text and Photo">
  <p:cSld name="MAIN_POINT_2_2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/>
        </p:txBody>
      </p:sp>
      <p:sp>
        <p:nvSpPr>
          <p:cNvPr id="184" name="Google Shape;184;p22"/>
          <p:cNvSpPr/>
          <p:nvPr>
            <p:ph idx="2" type="pic"/>
          </p:nvPr>
        </p:nvSpPr>
        <p:spPr>
          <a:xfrm>
            <a:off x="2633150" y="-127000"/>
            <a:ext cx="7450800" cy="5397600"/>
          </a:xfrm>
          <a:prstGeom prst="chevron">
            <a:avLst>
              <a:gd fmla="val 50000" name="adj"/>
            </a:avLst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7843"/>
              </a:srgbClr>
            </a:outerShdw>
          </a:effectLst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ramatic Text and Photo 3">
  <p:cSld name="MAIN_POINT_2_2_1_1"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397925" y="0"/>
            <a:ext cx="33444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900"/>
              <a:buNone/>
              <a:defRPr sz="8900">
                <a:solidFill>
                  <a:srgbClr val="FF9900"/>
                </a:solidFill>
              </a:defRPr>
            </a:lvl9pPr>
          </a:lstStyle>
          <a:p/>
        </p:txBody>
      </p:sp>
      <p:sp>
        <p:nvSpPr>
          <p:cNvPr id="187" name="Google Shape;187;p23"/>
          <p:cNvSpPr/>
          <p:nvPr>
            <p:ph idx="2" type="pic"/>
          </p:nvPr>
        </p:nvSpPr>
        <p:spPr>
          <a:xfrm>
            <a:off x="2582350" y="-118525"/>
            <a:ext cx="7450800" cy="5380500"/>
          </a:xfrm>
          <a:prstGeom prst="chevron">
            <a:avLst>
              <a:gd fmla="val 50000" name="adj"/>
            </a:avLst>
          </a:prstGeom>
          <a:noFill/>
          <a:ln>
            <a:noFill/>
          </a:ln>
          <a:effectLst>
            <a:outerShdw blurRad="200025" rotWithShape="0" algn="bl" dir="5400000" dist="19050">
              <a:srgbClr val="000000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61975" y="0"/>
            <a:ext cx="7623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Source Sans Pro"/>
              <a:buNone/>
              <a:defRPr b="1" i="0" sz="34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b="1" i="0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b="1" i="0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b="1" i="0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b="1" i="0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b="1" i="0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b="1" i="0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b="1" i="0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b="1" i="0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61975" y="1719075"/>
            <a:ext cx="7623000" cy="25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urce Sans Pro"/>
              <a:buChar char="●"/>
              <a:defRPr b="0" i="0" sz="24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○"/>
              <a:defRPr b="0" i="0" sz="1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urce Sans Pro"/>
              <a:buChar char="■"/>
              <a:defRPr b="0" i="0" sz="16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ource Sans Pro"/>
              <a:buChar char="●"/>
              <a:defRPr b="0" i="0" sz="13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Sans Pro"/>
              <a:buChar char="○"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794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Source Sans Pro"/>
              <a:buChar char="■"/>
              <a:defRPr b="0" i="0" sz="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Source Sans Pro"/>
              <a:buChar char="●"/>
              <a:defRPr b="0" i="0" sz="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794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Source Sans Pro"/>
              <a:buChar char="○"/>
              <a:defRPr b="0" i="0" sz="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794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Font typeface="Source Sans Pro"/>
              <a:buChar char="■"/>
              <a:defRPr b="0" i="0" sz="8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0" sz="13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mc:AlternateContent>
    <mc:Choice Requires="p14">
      <p:transition spd="slow" p14:dur="1100">
        <p:push dir="r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 pos="960">
          <p15:clr>
            <a:srgbClr val="EA4335"/>
          </p15:clr>
        </p15:guide>
        <p15:guide id="3" pos="1920">
          <p15:clr>
            <a:srgbClr val="EA4335"/>
          </p15:clr>
        </p15:guide>
        <p15:guide id="4" pos="3840">
          <p15:clr>
            <a:srgbClr val="EA4335"/>
          </p15:clr>
        </p15:guide>
        <p15:guide id="5" pos="4800">
          <p15:clr>
            <a:srgbClr val="EA4335"/>
          </p15:clr>
        </p15:guide>
        <p15:guide id="6" orient="horz" pos="541">
          <p15:clr>
            <a:srgbClr val="EA4335"/>
          </p15:clr>
        </p15:guide>
        <p15:guide id="7" orient="horz" pos="1083">
          <p15:clr>
            <a:srgbClr val="EA4335"/>
          </p15:clr>
        </p15:guide>
        <p15:guide id="8" orient="horz" pos="1624">
          <p15:clr>
            <a:srgbClr val="EA4335"/>
          </p15:clr>
        </p15:guide>
        <p15:guide id="9" orient="horz" pos="2166">
          <p15:clr>
            <a:srgbClr val="EA4335"/>
          </p15:clr>
        </p15:guide>
        <p15:guide id="10" orient="horz" pos="2707">
          <p15:clr>
            <a:srgbClr val="EA4335"/>
          </p15:clr>
        </p15:guide>
        <p15:guide id="11" pos="480">
          <p15:clr>
            <a:srgbClr val="EA4335"/>
          </p15:clr>
        </p15:guide>
        <p15:guide id="12" pos="1440">
          <p15:clr>
            <a:srgbClr val="EA4335"/>
          </p15:clr>
        </p15:guide>
        <p15:guide id="13" pos="2408">
          <p15:clr>
            <a:srgbClr val="EA4335"/>
          </p15:clr>
        </p15:guide>
        <p15:guide id="14" pos="4320">
          <p15:clr>
            <a:srgbClr val="EA4335"/>
          </p15:clr>
        </p15:guide>
        <p15:guide id="15" pos="3358">
          <p15:clr>
            <a:srgbClr val="EA4335"/>
          </p15:clr>
        </p15:guide>
        <p15:guide id="16" pos="5282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66928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InferenceGuard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35024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8A8A8"/>
                </a:solidFill>
                <a:latin typeface="Arial"/>
              </a:rPr>
              <a:t>Protecting what your text </a:t>
            </a:r>
            <a:r>
              <a:rPr sz="1500" b="1" i="1">
                <a:solidFill>
                  <a:srgbClr val="FFD200"/>
                </a:solidFill>
                <a:latin typeface="Arial"/>
              </a:rPr>
              <a:t>implies</a:t>
            </a:r>
            <a:r>
              <a:rPr sz="1500" b="0" i="0">
                <a:solidFill>
                  <a:srgbClr val="A8A8A8"/>
                </a:solidFill>
                <a:latin typeface="Arial"/>
              </a:rPr>
              <a:t>, not just what it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470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Arial"/>
              </a:rPr>
              <a:t>Mid-semester review  ·  DATA/MSML 641  ·  6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852928"/>
            <a:ext cx="1591056" cy="9144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0936" y="3017520"/>
            <a:ext cx="13350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Anna Thomas</a:t>
            </a:r>
          </a:p>
          <a:p>
            <a:r>
              <a:rPr sz="950" b="0" i="0">
                <a:solidFill>
                  <a:srgbClr val="FFD200"/>
                </a:solidFill>
                <a:latin typeface="Arial"/>
              </a:rPr>
              <a:t>Data &amp;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852928"/>
            <a:ext cx="1591056" cy="9144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276856" y="3017520"/>
            <a:ext cx="13350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Govind Arun</a:t>
            </a:r>
          </a:p>
          <a:p>
            <a:r>
              <a:rPr sz="950" b="0" i="0">
                <a:solidFill>
                  <a:srgbClr val="FFD200"/>
                </a:solidFill>
                <a:latin typeface="Arial"/>
              </a:rPr>
              <a:t>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852928"/>
            <a:ext cx="1591056" cy="9144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922776" y="3017520"/>
            <a:ext cx="13350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Chatur Bandaru</a:t>
            </a:r>
          </a:p>
          <a:p>
            <a:r>
              <a:rPr sz="950" b="0" i="0">
                <a:solidFill>
                  <a:srgbClr val="FFD200"/>
                </a:solidFill>
                <a:latin typeface="Arial"/>
              </a:rPr>
              <a:t>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852928"/>
            <a:ext cx="1591056" cy="9144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568696" y="3017520"/>
            <a:ext cx="13350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Yiwei Jin</a:t>
            </a:r>
          </a:p>
          <a:p>
            <a:r>
              <a:rPr sz="950" b="0" i="0">
                <a:solidFill>
                  <a:srgbClr val="FFD200"/>
                </a:solidFill>
                <a:latin typeface="Arial"/>
              </a:rPr>
              <a:t>Users &amp;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852928"/>
            <a:ext cx="1591056" cy="9144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14616" y="3017520"/>
            <a:ext cx="13350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Bingqi Lian</a:t>
            </a:r>
          </a:p>
          <a:p>
            <a:r>
              <a:rPr sz="950" b="0" i="0">
                <a:solidFill>
                  <a:srgbClr val="FFD200"/>
                </a:solidFill>
                <a:latin typeface="Arial"/>
              </a:rP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41648"/>
            <a:ext cx="8138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github.com/GIND123/Inference-Guard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The name is not what gives you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8A8A8"/>
                </a:solidFill>
                <a:latin typeface="Arial"/>
              </a:rPr>
              <a:t>Our user strips the obvious identifiers and assumes that is enough. It is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4892040" cy="1078992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4526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FFFFFF"/>
                </a:solidFill>
                <a:latin typeface="Arial"/>
              </a:rPr>
              <a:t>“My co-op ends in December, and I take</a:t>
            </a:r>
          </a:p>
          <a:p>
            <a:r>
              <a:rPr sz="1300" b="0" i="1">
                <a:solidFill>
                  <a:srgbClr val="FFFFFF"/>
                </a:solidFill>
                <a:latin typeface="Arial"/>
              </a:rPr>
              <a:t>the Green Line to campus most mornings.”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8A8A8"/>
                </a:solidFill>
                <a:latin typeface="Arial"/>
              </a:rPr>
              <a:t>No name. No address. No email.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82112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Presidio redacts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182112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A8A8A8"/>
                </a:solidFill>
                <a:latin typeface="Arial"/>
              </a:rPr>
              <a:t>“December”, “the Green Line”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rial"/>
              </a:rPr>
              <a:t>A model still infers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566160"/>
            <a:ext cx="3429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D200"/>
                </a:solidFill>
                <a:latin typeface="Arial"/>
              </a:rPr>
              <a:t>undergraduate  ·  Boston  ·  student  ·  18–24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481328"/>
            <a:ext cx="2971800" cy="2414016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97880" y="1773936"/>
            <a:ext cx="2514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D200"/>
                </a:solidFill>
                <a:latin typeface="Arial"/>
              </a:rPr>
              <a:t>90.5%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670048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of successful attribute inferences in SynthPAI come from indirect or complicated cues — not from an explicit mention</a:t>
            </a:r>
          </a:p>
          <a:p>
            <a:r>
              <a:rPr sz="950" b="0" i="0">
                <a:solidFill>
                  <a:srgbClr val="808080"/>
                </a:solidFill>
                <a:latin typeface="Arial"/>
              </a:rPr>
              <a:t>n = 3,958 annotated guesses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0416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A8A8A8"/>
                </a:solidFill>
                <a:latin typeface="Arial"/>
              </a:rPr>
              <a:t>That 90.5% is the gap we exist to close.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455371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080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8A8A8"/>
                </a:solidFill>
                <a:latin typeface="Arial"/>
              </a:rPr>
              <a:t>A local-first pipeline, running end to end on a Colab A100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27632"/>
            <a:ext cx="1499616" cy="84124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" y="1801368"/>
            <a:ext cx="13167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Message</a:t>
            </a:r>
          </a:p>
          <a:p>
            <a:pPr algn="ctr"/>
            <a:r>
              <a:rPr sz="900" b="0" i="0">
                <a:solidFill>
                  <a:srgbClr val="A8A8A8"/>
                </a:solidFill>
                <a:latin typeface="Arial"/>
              </a:rPr>
              <a:t>raw user text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43684" y="1993392"/>
            <a:ext cx="155448" cy="109728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40280" y="1627632"/>
            <a:ext cx="1499616" cy="84124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31720" y="1801368"/>
            <a:ext cx="13167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Presidio</a:t>
            </a:r>
          </a:p>
          <a:p>
            <a:pPr algn="ctr"/>
            <a:r>
              <a:rPr sz="900" b="0" i="0">
                <a:solidFill>
                  <a:srgbClr val="A8A8A8"/>
                </a:solidFill>
                <a:latin typeface="Arial"/>
              </a:rPr>
              <a:t>explicit PII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81044" y="1993392"/>
            <a:ext cx="155448" cy="109728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1627632"/>
            <a:ext cx="1499616" cy="841248"/>
          </a:xfrm>
          <a:prstGeom prst="roundRect">
            <a:avLst>
              <a:gd name="adj" fmla="val 6000"/>
            </a:avLst>
          </a:prstGeom>
          <a:solidFill>
            <a:srgbClr val="E2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069079" y="1801368"/>
            <a:ext cx="13167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ModernBERT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inference risk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18403" y="1993392"/>
            <a:ext cx="155448" cy="109728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4999" y="1627632"/>
            <a:ext cx="1499616" cy="841248"/>
          </a:xfrm>
          <a:prstGeom prst="roundRect">
            <a:avLst>
              <a:gd name="adj" fmla="val 6000"/>
            </a:avLst>
          </a:prstGeom>
          <a:solidFill>
            <a:srgbClr val="E2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806439" y="1801368"/>
            <a:ext cx="13167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Qwen3-1.7B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privacy rewrite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55763" y="1993392"/>
            <a:ext cx="155448" cy="109728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52360" y="1627632"/>
            <a:ext cx="1499616" cy="84124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43800" y="1801368"/>
            <a:ext cx="13167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Re-score</a:t>
            </a:r>
          </a:p>
          <a:p>
            <a:pPr algn="ctr"/>
            <a:r>
              <a:rPr sz="900" b="0" i="0">
                <a:solidFill>
                  <a:srgbClr val="A8A8A8"/>
                </a:solidFill>
                <a:latin typeface="Arial"/>
              </a:rPr>
              <a:t>before / 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15184"/>
            <a:ext cx="8138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08080"/>
                </a:solidFill>
                <a:latin typeface="Arial"/>
              </a:rPr>
              <a:t>Trained by us: the ModernBERT risk model and the Qwen QLoRA adapter. Presidio is the baseline we have to beat.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35808"/>
            <a:ext cx="2615184" cy="1042415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7512" y="32004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D200"/>
                </a:solidFill>
                <a:latin typeface="Arial"/>
              </a:rPr>
              <a:t>FINE-TUNED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ModernBERT 4-head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inferability classifier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7832" y="3035808"/>
            <a:ext cx="2615184" cy="1042415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92424" y="32004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D200"/>
                </a:solidFill>
                <a:latin typeface="Arial"/>
              </a:rPr>
              <a:t>HELD OUT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Phi-4-mini adversary,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never used in training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035808"/>
            <a:ext cx="2615184" cy="1042415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17336" y="32004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FFD200"/>
                </a:solidFill>
                <a:latin typeface="Arial"/>
              </a:rPr>
              <a:t>LIVE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FastAPI UI, risk panel,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before/after rewrite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455371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080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Where the risk model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8A8A8"/>
                </a:solidFill>
                <a:latin typeface="Arial"/>
              </a:rPr>
              <a:t>Fine-tuned ModernBERT, measured on 45 held-out profiles (profile-disjoint, seed 42)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rial"/>
              </a:rPr>
              <a:t>occupation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1668780"/>
            <a:ext cx="3794760" cy="1828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91640" y="1668780"/>
            <a:ext cx="2345161" cy="18288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64592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0.618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66420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n=281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48256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rial"/>
              </a:rPr>
              <a:t>education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2071116"/>
            <a:ext cx="3794760" cy="1828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91640" y="2071116"/>
            <a:ext cx="2026401" cy="18288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0.534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06654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n=146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2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rial"/>
              </a:rPr>
              <a:t>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473452"/>
            <a:ext cx="3794760" cy="1828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91640" y="2473452"/>
            <a:ext cx="1753179" cy="182880"/>
          </a:xfrm>
          <a:prstGeom prst="rect">
            <a:avLst/>
          </a:prstGeom>
          <a:solidFill>
            <a:srgbClr val="E2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45059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0.462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4688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n=56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52928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rial"/>
              </a:rPr>
              <a:t>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2875788"/>
            <a:ext cx="3794760" cy="18288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91640" y="2875788"/>
            <a:ext cx="880384" cy="182880"/>
          </a:xfrm>
          <a:prstGeom prst="rect">
            <a:avLst/>
          </a:prstGeom>
          <a:solidFill>
            <a:srgbClr val="E2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85292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0.232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287121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n=83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34670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Validation macro F1  0.461      ·      macro ROC-AUC  0.853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30752"/>
            <a:ext cx="8138160" cy="78638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3232" y="3877056"/>
            <a:ext cx="77175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D200"/>
                </a:solidFill>
                <a:latin typeface="Arial"/>
              </a:rPr>
              <a:t>Read this as optimistic, not final.</a:t>
            </a:r>
          </a:p>
          <a:p>
            <a:r>
              <a:rPr sz="1050" b="0" i="0">
                <a:solidFill>
                  <a:srgbClr val="A8A8A8"/>
                </a:solidFill>
                <a:latin typeface="Arial"/>
              </a:rPr>
              <a:t>The checkpoint was chosen on the same split it is scored on, validation loss rose while F1 improved, and the test split is still untouched. Age is barely working.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627632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Location has only 56 positive examples in validation. Any location claim needs an interval on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455371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080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What five real users did with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8A8A8"/>
                </a:solidFill>
                <a:latin typeface="Arial"/>
              </a:rPr>
              <a:t>External participants, 27 September, synthetic tasks on the live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18653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21833"/>
                </a:solidFill>
                <a:latin typeface="Arial"/>
              </a:rPr>
              <a:t>4 of 5</a:t>
            </a:r>
          </a:p>
          <a:p>
            <a:r>
              <a:rPr sz="1050" b="0" i="0">
                <a:solidFill>
                  <a:srgbClr val="FFFFFF"/>
                </a:solidFill>
                <a:latin typeface="Arial"/>
              </a:rPr>
              <a:t>would not use the protected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63624"/>
            <a:ext cx="475488" cy="201168"/>
          </a:xfrm>
          <a:prstGeom prst="roundRect">
            <a:avLst>
              <a:gd name="adj" fmla="val 30000"/>
            </a:avLst>
          </a:prstGeom>
          <a:solidFill>
            <a:srgbClr val="E2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P05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4448" y="1554480"/>
            <a:ext cx="5093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Three rewrites failed, so it returned the original text unchanged — Δ 0.000, while the UI still called it protected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075687"/>
            <a:ext cx="475488" cy="201168"/>
          </a:xfrm>
          <a:prstGeom prst="roundRect">
            <a:avLst>
              <a:gd name="adj" fmla="val 30000"/>
            </a:avLst>
          </a:prstGeom>
          <a:solidFill>
            <a:srgbClr val="E2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P02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066543"/>
            <a:ext cx="5093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Rewriter deleted the content and returned only the prompt header — utility 0.167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587751"/>
            <a:ext cx="475488" cy="201168"/>
          </a:xfrm>
          <a:prstGeom prst="roundRect">
            <a:avLst>
              <a:gd name="adj" fmla="val 30000"/>
            </a:avLst>
          </a:prstGeom>
          <a:solidFill>
            <a:srgbClr val="E2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P04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578608"/>
            <a:ext cx="5093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“skip-level manager”, “unregretted attrition” scored 0.276 and passed straight through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099815"/>
            <a:ext cx="475488" cy="201168"/>
          </a:xfrm>
          <a:prstGeom prst="roundRect">
            <a:avLst>
              <a:gd name="adj" fmla="val 30000"/>
            </a:avLst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P03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090672"/>
            <a:ext cx="5093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8A8A8"/>
                </a:solidFill>
                <a:latin typeface="Arial"/>
              </a:rPr>
              <a:t>Correctly left a low-risk clinical question alone — the one participant who would use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22191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D200"/>
                </a:solidFill>
                <a:latin typeface="Arial"/>
              </a:rPr>
              <a:t>We shipped the failures, not the one that worked.</a:t>
            </a:r>
          </a:p>
          <a:p>
            <a:r>
              <a:rPr sz="1050" b="0" i="0">
                <a:solidFill>
                  <a:srgbClr val="A8A8A8"/>
                </a:solidFill>
                <a:latin typeface="Arial"/>
              </a:rPr>
              <a:t>Every one of these is a defect we would not have found by testing it ourselves.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455371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080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What did not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8A8A8"/>
                </a:solidFill>
                <a:latin typeface="Arial"/>
              </a:rPr>
              <a:t>Four of these we found by reviewing our own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72768"/>
            <a:ext cx="8138160" cy="713232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682495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21833"/>
                </a:solidFill>
                <a:latin typeface="Arial"/>
              </a:rPr>
              <a:t>The rewriter has nothing to learn from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Our SFT pipeline produced 27 usable pairs out of 5,244 candidates. QLoRA on 27 examples will memorise, not generalise.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22576"/>
            <a:ext cx="8138160" cy="713232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21833"/>
                </a:solidFill>
                <a:latin typeface="Arial"/>
              </a:rPr>
              <a:t>Our utility metric could not see the failure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Cosine similarity scored 0.907 on a rewrite that output “123 an area, an area an area”. It rated garbage as 91% preserved.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72384"/>
            <a:ext cx="8138160" cy="713232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182112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D200"/>
                </a:solidFill>
                <a:latin typeface="Arial"/>
              </a:rPr>
              <a:t>A committed benchmark was simulated output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Three model names, one toy network, hardcoded latency. Caught in review and deleted before it reached a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22191"/>
            <a:ext cx="8138160" cy="713232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D200"/>
                </a:solidFill>
                <a:latin typeface="Arial"/>
              </a:rPr>
              <a:t>Train and serve were on different base models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The adapter was trained on Qwen3-1.7B and loaded onto Qwen2.5-1.5B. On failure it falls back to regex silently — the demo would have claimed Qwen.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00016"/>
            <a:ext cx="8138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A8A8A8"/>
                </a:solidFill>
                <a:latin typeface="Arial"/>
              </a:rPr>
              <a:t>The risk model works. The rewriter does not yet. We would rather say that now than in December.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455371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080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Plan to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8A8A8"/>
                </a:solidFill>
                <a:latin typeface="Arial"/>
              </a:rPr>
              <a:t>Eight weeks, and the order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64208"/>
            <a:ext cx="1536192" cy="1572768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9224" y="1810512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D200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2176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Oct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450592"/>
            <a:ext cx="12435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Run the held-out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Phi-4 adversary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1136" y="1664208"/>
            <a:ext cx="1536192" cy="1572768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377440" y="1810512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D200"/>
                </a:solidFill>
                <a:latin typeface="Arial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76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Oct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50592"/>
            <a:ext cx="12435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Rebuild the SFT set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with a teacher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9352" y="1664208"/>
            <a:ext cx="1536192" cy="1572768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05656" y="1810512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D200"/>
                </a:solidFill>
                <a:latin typeface="Arial"/>
              </a:rPr>
              <a:t>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176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Nov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2450592"/>
            <a:ext cx="12435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Multi-turn leakage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across a conversation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7568" y="1664208"/>
            <a:ext cx="1536192" cy="1572768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833872" y="1810512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D200"/>
                </a:solidFill>
                <a:latin typeface="Arial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176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Nov 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450592"/>
            <a:ext cx="12435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Calibrate bands,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full held-out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3" y="1664208"/>
            <a:ext cx="1536192" cy="1572768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62088" y="1810512"/>
            <a:ext cx="12435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D200"/>
                </a:solidFill>
                <a:latin typeface="Arial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176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Arial"/>
              </a:rPr>
              <a:t>Dec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450592"/>
            <a:ext cx="12435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Freeze, final study,</a:t>
            </a:r>
          </a:p>
          <a:p>
            <a:r>
              <a:rPr sz="1000" b="0" i="0">
                <a:solidFill>
                  <a:srgbClr val="FFFFFF"/>
                </a:solidFill>
                <a:latin typeface="Arial"/>
              </a:rPr>
              <a:t>demo 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438144"/>
            <a:ext cx="8138160" cy="10058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3602736"/>
            <a:ext cx="76809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FFD200"/>
                </a:solidFill>
                <a:latin typeface="Arial"/>
              </a:rPr>
              <a:t>First task, deliberately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Attack the rewrites we already have with a model we never trained against. It needs no training and one script. If protection does not survive it, we want to know in October, not in the last fortnight.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455371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080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What could change all of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8A8A8"/>
                </a:solidFill>
                <a:latin typeface="Arial"/>
              </a:rPr>
              <a:t>One risk matters more than the rest, and we have not retired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36192"/>
            <a:ext cx="4846320" cy="1920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389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21833"/>
                </a:solidFill>
                <a:latin typeface="Arial"/>
              </a:rPr>
              <a:t>Every number we have is from a closed loop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The rewriter picks the candidate that scores best under our own risk model, and we then report the improvement in that same model's score.</a:t>
            </a:r>
          </a:p>
          <a:p>
            <a:r>
              <a:rPr sz="1100" b="0" i="0">
                <a:solidFill>
                  <a:srgbClr val="FFD200"/>
                </a:solidFill>
                <a:latin typeface="Arial"/>
              </a:rPr>
              <a:t>That measures how well it games our scorer. It is not yet a privacy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5361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D200"/>
                </a:solidFill>
                <a:latin typeface="Arial"/>
              </a:rPr>
              <a:t>ALSO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86537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—  27 SFT pairs is not a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2677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—  Location: 56 validation positives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6700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—  Latency on a laptop is unmeasured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30723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—  SynthPAI is synthetic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8138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Persevere, with one change of order</a:t>
            </a:r>
          </a:p>
          <a:p>
            <a:r>
              <a:rPr sz="1050" b="0" i="0">
                <a:solidFill>
                  <a:srgbClr val="A8A8A8"/>
                </a:solidFill>
                <a:latin typeface="Arial"/>
              </a:rPr>
              <a:t>The problem is real and the risk model is learning it. We are moving the held-out adversary from Session 09 to Session 07, because it is the experiment that can invalidate the rest.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4553712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 i="0">
                <a:solidFill>
                  <a:srgbClr val="8080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9164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2374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Arial"/>
              </a:rPr>
              <a:t>Questions welcome — especially the hard ones about the closed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D200"/>
                </a:solidFill>
                <a:latin typeface="Arial"/>
              </a:rPr>
              <a:t>github.com/GIND123/Inference-Guard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29584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08080"/>
                </a:solidFill>
                <a:latin typeface="Arial"/>
              </a:rPr>
              <a:t>Anna Thomas  ·  Govind Arun  ·  Chatur Bandaru  ·  Yiwei Jin  ·  Bingqi Lian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earlessly Forward / LIGHT">
  <a:themeElements>
    <a:clrScheme name="Simple Light">
      <a:dk1>
        <a:srgbClr val="000000"/>
      </a:dk1>
      <a:lt1>
        <a:srgbClr val="FFFFFF"/>
      </a:lt1>
      <a:dk2>
        <a:srgbClr val="636363"/>
      </a:dk2>
      <a:lt2>
        <a:srgbClr val="E6E6E6"/>
      </a:lt2>
      <a:accent1>
        <a:srgbClr val="E21833"/>
      </a:accent1>
      <a:accent2>
        <a:srgbClr val="A41124"/>
      </a:accent2>
      <a:accent3>
        <a:srgbClr val="820E1D"/>
      </a:accent3>
      <a:accent4>
        <a:srgbClr val="FFD200"/>
      </a:accent4>
      <a:accent5>
        <a:srgbClr val="CBA700"/>
      </a:accent5>
      <a:accent6>
        <a:srgbClr val="715D00"/>
      </a:accent6>
      <a:hlink>
        <a:srgbClr val="E218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